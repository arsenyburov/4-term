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7" r:id="rId4"/>
    <p:sldId id="267" r:id="rId5"/>
    <p:sldId id="268" r:id="rId6"/>
    <p:sldId id="271" r:id="rId7"/>
    <p:sldId id="270" r:id="rId8"/>
    <p:sldId id="269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FFB2"/>
    <a:srgbClr val="00FF00"/>
    <a:srgbClr val="99FFCC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4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1ACA33-B903-4D50-EC26-538DA1761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0668" y="2017054"/>
            <a:ext cx="7638047" cy="2098226"/>
          </a:xfrm>
        </p:spPr>
        <p:txBody>
          <a:bodyPr/>
          <a:lstStyle/>
          <a:p>
            <a:r>
              <a:rPr lang="ru-RU" sz="4800" dirty="0"/>
              <a:t>Метод разработки алгоритмов. </a:t>
            </a:r>
            <a:br>
              <a:rPr lang="ru-RU" sz="4800" dirty="0"/>
            </a:br>
            <a:r>
              <a:rPr lang="ru-RU" sz="4800" dirty="0"/>
              <a:t>Разделяй и властвуй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D5AEA97-16F0-03CB-5637-EA91CA2BA172}"/>
              </a:ext>
            </a:extLst>
          </p:cNvPr>
          <p:cNvSpPr>
            <a:spLocks noGrp="1"/>
          </p:cNvSpPr>
          <p:nvPr/>
        </p:nvSpPr>
        <p:spPr>
          <a:xfrm>
            <a:off x="237624" y="6088312"/>
            <a:ext cx="3158905" cy="519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Буров Арсений 211 гр.</a:t>
            </a:r>
          </a:p>
        </p:txBody>
      </p:sp>
    </p:spTree>
    <p:extLst>
      <p:ext uri="{BB962C8B-B14F-4D97-AF65-F5344CB8AC3E}">
        <p14:creationId xmlns:p14="http://schemas.microsoft.com/office/powerpoint/2010/main" val="2035418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FF9A249-8C79-6D9B-3302-D4B7DB6B6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171" y="399156"/>
            <a:ext cx="9601200" cy="18167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Разделяй и властвуй - это метод разработки алгоритмов, основанный на рекурсивном разбиении сложной задачи на две или более подзадачи того же типа, но меньшего размера, до тех пор, пока они не станут элементарными и решаемыми напрямую.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020BCDA-DB8F-6244-C289-491932187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386966"/>
              </p:ext>
            </p:extLst>
          </p:nvPr>
        </p:nvGraphicFramePr>
        <p:xfrm>
          <a:off x="2892260" y="213667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5558085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069076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6485886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9332872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72415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FF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FF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FF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FF00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FF00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967883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CA368BD-8FD4-88E3-37C3-F77AF7155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175568"/>
              </p:ext>
            </p:extLst>
          </p:nvPr>
        </p:nvGraphicFramePr>
        <p:xfrm>
          <a:off x="3042656" y="2999651"/>
          <a:ext cx="12947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31">
                  <a:extLst>
                    <a:ext uri="{9D8B030D-6E8A-4147-A177-3AD203B41FA5}">
                      <a16:colId xmlns:a16="http://schemas.microsoft.com/office/drawing/2014/main" val="342434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B2F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635292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B7682D5F-429A-5197-7253-7AFFF647A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935577"/>
              </p:ext>
            </p:extLst>
          </p:nvPr>
        </p:nvGraphicFramePr>
        <p:xfrm>
          <a:off x="4705354" y="2999651"/>
          <a:ext cx="12947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31">
                  <a:extLst>
                    <a:ext uri="{9D8B030D-6E8A-4147-A177-3AD203B41FA5}">
                      <a16:colId xmlns:a16="http://schemas.microsoft.com/office/drawing/2014/main" val="342434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B2F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635292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C7FAC17F-F4EF-BDDE-EB5A-4CFD9DF44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512008"/>
              </p:ext>
            </p:extLst>
          </p:nvPr>
        </p:nvGraphicFramePr>
        <p:xfrm>
          <a:off x="6308894" y="2999651"/>
          <a:ext cx="12947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31">
                  <a:extLst>
                    <a:ext uri="{9D8B030D-6E8A-4147-A177-3AD203B41FA5}">
                      <a16:colId xmlns:a16="http://schemas.microsoft.com/office/drawing/2014/main" val="342434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B2F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635292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C410099B-3C74-964A-91CA-45D5671AF6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973575"/>
              </p:ext>
            </p:extLst>
          </p:nvPr>
        </p:nvGraphicFramePr>
        <p:xfrm>
          <a:off x="7948199" y="2999651"/>
          <a:ext cx="12947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31">
                  <a:extLst>
                    <a:ext uri="{9D8B030D-6E8A-4147-A177-3AD203B41FA5}">
                      <a16:colId xmlns:a16="http://schemas.microsoft.com/office/drawing/2014/main" val="342434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B2F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635292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51733B04-FC74-71AC-159B-29EC3B55E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337203"/>
              </p:ext>
            </p:extLst>
          </p:nvPr>
        </p:nvGraphicFramePr>
        <p:xfrm>
          <a:off x="9587504" y="2999874"/>
          <a:ext cx="1294731" cy="370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31">
                  <a:extLst>
                    <a:ext uri="{9D8B030D-6E8A-4147-A177-3AD203B41FA5}">
                      <a16:colId xmlns:a16="http://schemas.microsoft.com/office/drawing/2014/main" val="342434748"/>
                    </a:ext>
                  </a:extLst>
                </a:gridCol>
              </a:tblGrid>
              <a:tr h="37061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B2F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635292"/>
                  </a:ext>
                </a:extLst>
              </a:tr>
            </a:tbl>
          </a:graphicData>
        </a:graphic>
      </p:graphicFrame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050A3B27-6B78-1336-3A97-0DBA43A13F07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3690021" y="2507516"/>
            <a:ext cx="0" cy="492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E705DF0-BE74-56F6-CA9F-1728C158C837}"/>
              </a:ext>
            </a:extLst>
          </p:cNvPr>
          <p:cNvCxnSpPr>
            <a:cxnSpLocks/>
          </p:cNvCxnSpPr>
          <p:nvPr/>
        </p:nvCxnSpPr>
        <p:spPr>
          <a:xfrm>
            <a:off x="5304258" y="2507515"/>
            <a:ext cx="0" cy="492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B17B1065-473E-93CA-5A8E-61B0604423F0}"/>
              </a:ext>
            </a:extLst>
          </p:cNvPr>
          <p:cNvCxnSpPr>
            <a:cxnSpLocks/>
          </p:cNvCxnSpPr>
          <p:nvPr/>
        </p:nvCxnSpPr>
        <p:spPr>
          <a:xfrm>
            <a:off x="6972636" y="2507514"/>
            <a:ext cx="0" cy="492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5B3B55FA-2631-1CA3-A821-06794C491F9A}"/>
              </a:ext>
            </a:extLst>
          </p:cNvPr>
          <p:cNvCxnSpPr>
            <a:cxnSpLocks/>
          </p:cNvCxnSpPr>
          <p:nvPr/>
        </p:nvCxnSpPr>
        <p:spPr>
          <a:xfrm>
            <a:off x="8581862" y="2507513"/>
            <a:ext cx="0" cy="492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D0C69931-E762-98E4-F8DA-FEA2C286B2AE}"/>
              </a:ext>
            </a:extLst>
          </p:cNvPr>
          <p:cNvCxnSpPr>
            <a:cxnSpLocks/>
          </p:cNvCxnSpPr>
          <p:nvPr/>
        </p:nvCxnSpPr>
        <p:spPr>
          <a:xfrm>
            <a:off x="10227183" y="2507512"/>
            <a:ext cx="0" cy="492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03A6CAAA-DA03-616B-F9F3-A019800AE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953077"/>
              </p:ext>
            </p:extLst>
          </p:nvPr>
        </p:nvGraphicFramePr>
        <p:xfrm>
          <a:off x="3042656" y="3862626"/>
          <a:ext cx="12947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31">
                  <a:extLst>
                    <a:ext uri="{9D8B030D-6E8A-4147-A177-3AD203B41FA5}">
                      <a16:colId xmlns:a16="http://schemas.microsoft.com/office/drawing/2014/main" val="342434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sz="1800" b="1" kern="12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ru-RU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2F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635292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A463D3AC-93A1-B275-4545-34DD8A991C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148500"/>
              </p:ext>
            </p:extLst>
          </p:nvPr>
        </p:nvGraphicFramePr>
        <p:xfrm>
          <a:off x="4705354" y="3862626"/>
          <a:ext cx="12947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31">
                  <a:extLst>
                    <a:ext uri="{9D8B030D-6E8A-4147-A177-3AD203B41FA5}">
                      <a16:colId xmlns:a16="http://schemas.microsoft.com/office/drawing/2014/main" val="342434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sz="1800" b="1" kern="12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ru-RU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2F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635292"/>
                  </a:ext>
                </a:extLst>
              </a:tr>
            </a:tbl>
          </a:graphicData>
        </a:graphic>
      </p:graphicFrame>
      <p:graphicFrame>
        <p:nvGraphicFramePr>
          <p:cNvPr id="19" name="Таблица 18">
            <a:extLst>
              <a:ext uri="{FF2B5EF4-FFF2-40B4-BE49-F238E27FC236}">
                <a16:creationId xmlns:a16="http://schemas.microsoft.com/office/drawing/2014/main" id="{9F5980E7-9B3E-D7CC-10DD-38C4004C3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719148"/>
              </p:ext>
            </p:extLst>
          </p:nvPr>
        </p:nvGraphicFramePr>
        <p:xfrm>
          <a:off x="6308894" y="3862626"/>
          <a:ext cx="12947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31">
                  <a:extLst>
                    <a:ext uri="{9D8B030D-6E8A-4147-A177-3AD203B41FA5}">
                      <a16:colId xmlns:a16="http://schemas.microsoft.com/office/drawing/2014/main" val="342434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sz="1800" b="1" kern="12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ru-RU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2F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635292"/>
                  </a:ext>
                </a:extLst>
              </a:tr>
            </a:tbl>
          </a:graphicData>
        </a:graphic>
      </p:graphicFrame>
      <p:graphicFrame>
        <p:nvGraphicFramePr>
          <p:cNvPr id="20" name="Таблица 19">
            <a:extLst>
              <a:ext uri="{FF2B5EF4-FFF2-40B4-BE49-F238E27FC236}">
                <a16:creationId xmlns:a16="http://schemas.microsoft.com/office/drawing/2014/main" id="{9F0DDCFF-698C-11CF-E9E4-9350B3C9A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601962"/>
              </p:ext>
            </p:extLst>
          </p:nvPr>
        </p:nvGraphicFramePr>
        <p:xfrm>
          <a:off x="7948199" y="3862626"/>
          <a:ext cx="12947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31">
                  <a:extLst>
                    <a:ext uri="{9D8B030D-6E8A-4147-A177-3AD203B41FA5}">
                      <a16:colId xmlns:a16="http://schemas.microsoft.com/office/drawing/2014/main" val="342434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sz="1800" b="1" kern="12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ru-RU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2F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635292"/>
                  </a:ext>
                </a:extLst>
              </a:tr>
            </a:tbl>
          </a:graphicData>
        </a:graphic>
      </p:graphicFrame>
      <p:graphicFrame>
        <p:nvGraphicFramePr>
          <p:cNvPr id="21" name="Таблица 20">
            <a:extLst>
              <a:ext uri="{FF2B5EF4-FFF2-40B4-BE49-F238E27FC236}">
                <a16:creationId xmlns:a16="http://schemas.microsoft.com/office/drawing/2014/main" id="{C2AF8380-02BE-596C-14D7-B53BF9833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259897"/>
              </p:ext>
            </p:extLst>
          </p:nvPr>
        </p:nvGraphicFramePr>
        <p:xfrm>
          <a:off x="9587504" y="3862849"/>
          <a:ext cx="1294731" cy="370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31">
                  <a:extLst>
                    <a:ext uri="{9D8B030D-6E8A-4147-A177-3AD203B41FA5}">
                      <a16:colId xmlns:a16="http://schemas.microsoft.com/office/drawing/2014/main" val="342434748"/>
                    </a:ext>
                  </a:extLst>
                </a:gridCol>
              </a:tblGrid>
              <a:tr h="3706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US" sz="1800" b="1" kern="12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ru-RU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2F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635292"/>
                  </a:ext>
                </a:extLst>
              </a:tr>
            </a:tbl>
          </a:graphicData>
        </a:graphic>
      </p:graphicFrame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0BAABCF1-503E-2A10-919B-221C6B894392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3690021" y="3370491"/>
            <a:ext cx="0" cy="492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7F993D8B-F31A-6148-15EA-EE6A7219ECBE}"/>
              </a:ext>
            </a:extLst>
          </p:cNvPr>
          <p:cNvCxnSpPr>
            <a:cxnSpLocks/>
          </p:cNvCxnSpPr>
          <p:nvPr/>
        </p:nvCxnSpPr>
        <p:spPr>
          <a:xfrm>
            <a:off x="5304258" y="3370490"/>
            <a:ext cx="0" cy="492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B6AEC9F8-AAE0-5CAA-1B8C-A18BE8FF9975}"/>
              </a:ext>
            </a:extLst>
          </p:cNvPr>
          <p:cNvCxnSpPr>
            <a:cxnSpLocks/>
          </p:cNvCxnSpPr>
          <p:nvPr/>
        </p:nvCxnSpPr>
        <p:spPr>
          <a:xfrm>
            <a:off x="6972636" y="3370489"/>
            <a:ext cx="0" cy="492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9EBF3839-8940-AB21-8C8C-51BA7081EFCF}"/>
              </a:ext>
            </a:extLst>
          </p:cNvPr>
          <p:cNvCxnSpPr>
            <a:cxnSpLocks/>
          </p:cNvCxnSpPr>
          <p:nvPr/>
        </p:nvCxnSpPr>
        <p:spPr>
          <a:xfrm>
            <a:off x="8581862" y="3370488"/>
            <a:ext cx="0" cy="492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8B92F152-5DDE-BF4D-0474-88C00A94B876}"/>
              </a:ext>
            </a:extLst>
          </p:cNvPr>
          <p:cNvCxnSpPr>
            <a:cxnSpLocks/>
          </p:cNvCxnSpPr>
          <p:nvPr/>
        </p:nvCxnSpPr>
        <p:spPr>
          <a:xfrm>
            <a:off x="10227183" y="3370487"/>
            <a:ext cx="0" cy="492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D0D719C-67A4-1D1B-F0E8-D72FFB72CCD1}"/>
              </a:ext>
            </a:extLst>
          </p:cNvPr>
          <p:cNvSpPr/>
          <p:nvPr/>
        </p:nvSpPr>
        <p:spPr>
          <a:xfrm>
            <a:off x="4137861" y="4773727"/>
            <a:ext cx="5636795" cy="463216"/>
          </a:xfrm>
          <a:prstGeom prst="rect">
            <a:avLst/>
          </a:prstGeom>
          <a:solidFill>
            <a:srgbClr val="B2FF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en-US" sz="1800" b="1" kern="1200" baseline="-250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abcde</a:t>
            </a:r>
            <a:endParaRPr lang="en-US" sz="1800" b="1" kern="1200" baseline="-250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BD67EA13-0AAB-9872-76E3-0D021573AB9B}"/>
              </a:ext>
            </a:extLst>
          </p:cNvPr>
          <p:cNvCxnSpPr>
            <a:cxnSpLocks/>
          </p:cNvCxnSpPr>
          <p:nvPr/>
        </p:nvCxnSpPr>
        <p:spPr>
          <a:xfrm>
            <a:off x="3713414" y="4266971"/>
            <a:ext cx="424447" cy="4303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71664907-BCB5-1FDB-B26D-973026F0ADB8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9774656" y="4233466"/>
            <a:ext cx="460213" cy="5402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19FFC8AC-627A-FD22-9633-52E570BC834D}"/>
              </a:ext>
            </a:extLst>
          </p:cNvPr>
          <p:cNvCxnSpPr>
            <a:cxnSpLocks/>
          </p:cNvCxnSpPr>
          <p:nvPr/>
        </p:nvCxnSpPr>
        <p:spPr>
          <a:xfrm>
            <a:off x="5369096" y="4257528"/>
            <a:ext cx="0" cy="492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D880CFD9-01D5-AA4A-AFA6-5E0689DDFBE8}"/>
              </a:ext>
            </a:extLst>
          </p:cNvPr>
          <p:cNvCxnSpPr>
            <a:cxnSpLocks/>
          </p:cNvCxnSpPr>
          <p:nvPr/>
        </p:nvCxnSpPr>
        <p:spPr>
          <a:xfrm>
            <a:off x="6989013" y="4281592"/>
            <a:ext cx="0" cy="492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78DCC158-CC7A-6028-E7DD-8996010510B7}"/>
              </a:ext>
            </a:extLst>
          </p:cNvPr>
          <p:cNvCxnSpPr>
            <a:cxnSpLocks/>
          </p:cNvCxnSpPr>
          <p:nvPr/>
        </p:nvCxnSpPr>
        <p:spPr>
          <a:xfrm>
            <a:off x="8636004" y="4266971"/>
            <a:ext cx="0" cy="4921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39698EDA-6D4D-A1E4-A4C8-F63A0395FD36}"/>
              </a:ext>
            </a:extLst>
          </p:cNvPr>
          <p:cNvSpPr/>
          <p:nvPr/>
        </p:nvSpPr>
        <p:spPr>
          <a:xfrm>
            <a:off x="956345" y="2100048"/>
            <a:ext cx="1452476" cy="44409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Задача</a:t>
            </a: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29F92A17-CCEA-0D3F-0899-B5F05DAE8DBC}"/>
              </a:ext>
            </a:extLst>
          </p:cNvPr>
          <p:cNvSpPr/>
          <p:nvPr/>
        </p:nvSpPr>
        <p:spPr>
          <a:xfrm>
            <a:off x="956345" y="2926391"/>
            <a:ext cx="1452478" cy="44409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Разделение</a:t>
            </a:r>
          </a:p>
        </p:txBody>
      </p:sp>
      <p:sp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7CCA01D3-6682-7695-AD58-965441B0F5A7}"/>
              </a:ext>
            </a:extLst>
          </p:cNvPr>
          <p:cNvSpPr/>
          <p:nvPr/>
        </p:nvSpPr>
        <p:spPr>
          <a:xfrm>
            <a:off x="956343" y="3789370"/>
            <a:ext cx="1452478" cy="44409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</a:rPr>
              <a:t>Решение</a:t>
            </a: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41C23A2E-57CB-7A28-7C0B-D03B7BD6C435}"/>
              </a:ext>
            </a:extLst>
          </p:cNvPr>
          <p:cNvSpPr/>
          <p:nvPr/>
        </p:nvSpPr>
        <p:spPr>
          <a:xfrm>
            <a:off x="956343" y="4783287"/>
            <a:ext cx="1452478" cy="44409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 dirty="0">
                <a:solidFill>
                  <a:schemeClr val="tx1"/>
                </a:solidFill>
              </a:rPr>
              <a:t>Объединение</a:t>
            </a:r>
          </a:p>
        </p:txBody>
      </p:sp>
    </p:spTree>
    <p:extLst>
      <p:ext uri="{BB962C8B-B14F-4D97-AF65-F5344CB8AC3E}">
        <p14:creationId xmlns:p14="http://schemas.microsoft.com/office/powerpoint/2010/main" val="4244835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01B27D-C573-5A51-A9A5-A0DDE3C04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2950"/>
          </a:xfrm>
        </p:spPr>
        <p:txBody>
          <a:bodyPr>
            <a:normAutofit/>
          </a:bodyPr>
          <a:lstStyle/>
          <a:p>
            <a:r>
              <a:rPr lang="ru-RU" sz="4000" dirty="0"/>
              <a:t>Этапы работы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DCCB2E-8C08-B61C-8033-64F38BDE52FE}"/>
              </a:ext>
            </a:extLst>
          </p:cNvPr>
          <p:cNvSpPr txBox="1"/>
          <p:nvPr/>
        </p:nvSpPr>
        <p:spPr>
          <a:xfrm>
            <a:off x="1371600" y="1840831"/>
            <a:ext cx="94415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1. Разделение исходной задачи на независимые подзадачи меньшей размерности;</a:t>
            </a:r>
          </a:p>
          <a:p>
            <a:r>
              <a:rPr lang="ru-RU" sz="2400" dirty="0"/>
              <a:t>2. Рекурсивное решение каждой подзадачи; если подзадача достаточно мала, решаем её непосредственно (базовый случай рекурсии);</a:t>
            </a:r>
          </a:p>
          <a:p>
            <a:r>
              <a:rPr lang="ru-RU" sz="2400" dirty="0"/>
              <a:t>3. Объединение решений подзадач в решение исходной задачи.</a:t>
            </a:r>
          </a:p>
        </p:txBody>
      </p:sp>
    </p:spTree>
    <p:extLst>
      <p:ext uri="{BB962C8B-B14F-4D97-AF65-F5344CB8AC3E}">
        <p14:creationId xmlns:p14="http://schemas.microsoft.com/office/powerpoint/2010/main" val="937130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01B27D-C573-5A51-A9A5-A0DDE3C04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42950"/>
          </a:xfrm>
        </p:spPr>
        <p:txBody>
          <a:bodyPr>
            <a:normAutofit/>
          </a:bodyPr>
          <a:lstStyle/>
          <a:p>
            <a:r>
              <a:rPr lang="ru-RU" sz="4000" dirty="0"/>
              <a:t>Примеры алгоритмов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7DC2BE-85CE-5989-BBD5-9636498B31A9}"/>
              </a:ext>
            </a:extLst>
          </p:cNvPr>
          <p:cNvSpPr txBox="1"/>
          <p:nvPr/>
        </p:nvSpPr>
        <p:spPr>
          <a:xfrm>
            <a:off x="1744579" y="1690436"/>
            <a:ext cx="89635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b="1" i="0" dirty="0">
                <a:effectLst/>
              </a:rPr>
              <a:t>Сортировка слиянием </a:t>
            </a:r>
            <a:r>
              <a:rPr lang="ru-RU" dirty="0"/>
              <a:t>- </a:t>
            </a:r>
            <a:r>
              <a:rPr lang="ru-RU" b="0" i="0" dirty="0">
                <a:effectLst/>
              </a:rPr>
              <a:t>делит массив пополам, рекурсивно сортирует каждую половину и сливает два отсортированных массива в один.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i="0" dirty="0">
                <a:effectLst/>
              </a:rPr>
              <a:t>Быстрая сортировка </a:t>
            </a:r>
            <a:r>
              <a:rPr lang="ru-RU" b="0" i="0" dirty="0">
                <a:effectLst/>
              </a:rPr>
              <a:t>- выбирает опорный элемент, разделяет массив на элементы меньше и больше опорного, затем рекурсивно сортирует части.</a:t>
            </a:r>
          </a:p>
          <a:p>
            <a:pPr marL="342900" indent="-342900">
              <a:buFont typeface="+mj-lt"/>
              <a:buAutoNum type="arabicPeriod"/>
            </a:pPr>
            <a:endParaRPr lang="ru-RU" b="0" i="0" dirty="0">
              <a:effectLst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b="1" i="0" dirty="0">
                <a:solidFill>
                  <a:srgbClr val="181818"/>
                </a:solidFill>
                <a:effectLst/>
              </a:rPr>
              <a:t>Бинарный поиск </a:t>
            </a:r>
            <a:r>
              <a:rPr lang="ru-RU" b="0" i="0" dirty="0">
                <a:solidFill>
                  <a:srgbClr val="181818"/>
                </a:solidFill>
                <a:effectLst/>
              </a:rPr>
              <a:t>- алгоритм, который последовательно делит пополам заранее отсортированный массив данных, чтобы обнаружить нужный элемент.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i="0" dirty="0">
                <a:effectLst/>
              </a:rPr>
              <a:t>Алгоритм </a:t>
            </a:r>
            <a:r>
              <a:rPr lang="ru-RU" b="1" i="0" dirty="0" err="1">
                <a:effectLst/>
              </a:rPr>
              <a:t>Карацубы</a:t>
            </a:r>
            <a:r>
              <a:rPr lang="ru-RU" b="1" i="0" dirty="0">
                <a:effectLst/>
              </a:rPr>
              <a:t> </a:t>
            </a:r>
            <a:r>
              <a:rPr lang="en-US" dirty="0"/>
              <a:t>-</a:t>
            </a:r>
            <a:r>
              <a:rPr lang="ru-RU" b="0" i="0" dirty="0">
                <a:effectLst/>
              </a:rPr>
              <a:t> умножение больших чисел за </a:t>
            </a: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O(n </a:t>
            </a:r>
            <a:r>
              <a:rPr lang="ru-RU" sz="1800" kern="100" baseline="300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log</a:t>
            </a:r>
            <a:r>
              <a:rPr lang="en-US" sz="1800" kern="100" baseline="30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_</a:t>
            </a:r>
            <a:r>
              <a:rPr lang="ru-RU" sz="1800" kern="100" baseline="30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US" sz="1800" kern="100" baseline="30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ru-RU" sz="1800" kern="100" baseline="30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en-US" sz="1800" kern="100" baseline="30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r>
              <a:rPr lang="en-US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effectLst/>
              </a:rPr>
              <a:t>вместо классического </a:t>
            </a:r>
            <a:r>
              <a:rPr lang="ru-RU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O(n</a:t>
            </a:r>
            <a:r>
              <a:rPr lang="ru-RU" sz="1800" baseline="300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ru-RU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  <a:r>
              <a:rPr lang="ru-RU" b="0" i="0" dirty="0">
                <a:effectLst/>
              </a:rPr>
              <a:t>за счёт разбиения на части и уменьшения количества перемножений.</a:t>
            </a:r>
          </a:p>
          <a:p>
            <a:pPr marL="342900" indent="-342900">
              <a:buFont typeface="+mj-lt"/>
              <a:buAutoNum type="arabicPeriod"/>
            </a:pPr>
            <a:endParaRPr lang="ru-RU" b="0" i="0" dirty="0">
              <a:effectLst/>
              <a:latin typeface="pplxSerif"/>
            </a:endParaRPr>
          </a:p>
          <a:p>
            <a:pPr marL="342900" indent="-34290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1752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9EB046-F122-4400-FBF1-534468400E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16"/>
          <a:stretch/>
        </p:blipFill>
        <p:spPr>
          <a:xfrm>
            <a:off x="968908" y="1087623"/>
            <a:ext cx="10254184" cy="56909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CE1EEF-74D4-FE29-81ED-172CC9724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63770"/>
            <a:ext cx="9601200" cy="615462"/>
          </a:xfrm>
        </p:spPr>
        <p:txBody>
          <a:bodyPr>
            <a:normAutofit/>
          </a:bodyPr>
          <a:lstStyle/>
          <a:p>
            <a:r>
              <a:rPr lang="ru-RU" sz="3600" dirty="0"/>
              <a:t>Пример: Сортировка слиянием</a:t>
            </a:r>
          </a:p>
        </p:txBody>
      </p:sp>
    </p:spTree>
    <p:extLst>
      <p:ext uri="{BB962C8B-B14F-4D97-AF65-F5344CB8AC3E}">
        <p14:creationId xmlns:p14="http://schemas.microsoft.com/office/powerpoint/2010/main" val="541210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79E8B-8D9A-96C8-E246-EA84A3EBC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15462"/>
          </a:xfrm>
        </p:spPr>
        <p:txBody>
          <a:bodyPr>
            <a:normAutofit/>
          </a:bodyPr>
          <a:lstStyle/>
          <a:p>
            <a:r>
              <a:rPr lang="ru-RU" sz="3600" dirty="0"/>
              <a:t>Пример: Алгоритм </a:t>
            </a:r>
            <a:r>
              <a:rPr lang="ru-RU" sz="3600" dirty="0" err="1"/>
              <a:t>Карацубы</a:t>
            </a:r>
            <a:r>
              <a:rPr lang="ru-RU" sz="3600" dirty="0"/>
              <a:t> 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349F085-7976-997E-1C66-CE88FA21F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841" y="1394701"/>
            <a:ext cx="8828727" cy="477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354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DC1C07A-80E0-B937-3CDB-E61492C48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1048" y="445169"/>
            <a:ext cx="9601200" cy="358140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Математически работа алгоритмов </a:t>
            </a:r>
            <a:r>
              <a:rPr lang="en-US" dirty="0"/>
              <a:t>“</a:t>
            </a:r>
            <a:r>
              <a:rPr lang="ru-RU" dirty="0"/>
              <a:t>разделяй и властвуй</a:t>
            </a:r>
            <a:r>
              <a:rPr lang="en-US" dirty="0"/>
              <a:t>”</a:t>
            </a:r>
            <a:r>
              <a:rPr lang="ru-RU" dirty="0"/>
              <a:t> описывается с помощью рекуррентного соотношения. Чаще всего используется формула, которая легла в основу Основной теоремы о рекуррентных соотношениях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C24888-6809-B90E-CA48-DFC470AFAE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87" b="10317"/>
          <a:stretch/>
        </p:blipFill>
        <p:spPr>
          <a:xfrm>
            <a:off x="3238500" y="1781677"/>
            <a:ext cx="6629400" cy="90838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2226066-8C5B-059F-05EE-5EC0BCBB4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853" y="2915177"/>
            <a:ext cx="6944694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118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2C0275-5A4C-B45E-B90E-2CE8F1C2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метода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1A959B-CFA8-B8D6-DA84-CE6A632E7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effectLst/>
                <a:latin typeface="pplxSerif"/>
              </a:rPr>
              <a:t>Метод позволяет перейти от неэффективных обычных решений к более быстрым;</a:t>
            </a:r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Подзадачи </a:t>
            </a:r>
            <a:r>
              <a:rPr lang="ru-RU" i="0" dirty="0">
                <a:solidFill>
                  <a:srgbClr val="0F1115"/>
                </a:solidFill>
                <a:effectLst/>
                <a:latin typeface="quote-cjk-patch"/>
              </a:rPr>
              <a:t>независимы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друг от друга;</a:t>
            </a:r>
          </a:p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Сложные задачи, которые трудно решить целиком, становятся управляемыми при разбиении на простые подзадачи;</a:t>
            </a:r>
          </a:p>
          <a:p>
            <a:endParaRPr lang="ru-RU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4097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BDCE925-3A0C-60B7-50F3-B0F5D1485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9890" y="2954601"/>
            <a:ext cx="6332220" cy="695379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429250927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</TotalTime>
  <Words>286</Words>
  <Application>Microsoft Office PowerPoint</Application>
  <PresentationFormat>Широкоэкранный</PresentationFormat>
  <Paragraphs>41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Aptos</vt:lpstr>
      <vt:lpstr>Franklin Gothic Book</vt:lpstr>
      <vt:lpstr>pplxSerif</vt:lpstr>
      <vt:lpstr>quote-cjk-patch</vt:lpstr>
      <vt:lpstr>Уголки</vt:lpstr>
      <vt:lpstr>Метод разработки алгоритмов.  Разделяй и властвуй</vt:lpstr>
      <vt:lpstr>Презентация PowerPoint</vt:lpstr>
      <vt:lpstr>Этапы работы</vt:lpstr>
      <vt:lpstr>Примеры алгоритмов</vt:lpstr>
      <vt:lpstr>Пример: Сортировка слиянием</vt:lpstr>
      <vt:lpstr>Пример: Алгоритм Карацубы </vt:lpstr>
      <vt:lpstr>Презентация PowerPoint</vt:lpstr>
      <vt:lpstr>Преимущества метода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</dc:creator>
  <cp:lastModifiedBy>Ars</cp:lastModifiedBy>
  <cp:revision>5</cp:revision>
  <dcterms:created xsi:type="dcterms:W3CDTF">2026-02-16T14:02:04Z</dcterms:created>
  <dcterms:modified xsi:type="dcterms:W3CDTF">2026-03-23T14:57:01Z</dcterms:modified>
</cp:coreProperties>
</file>