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9" r:id="rId3"/>
    <p:sldId id="257" r:id="rId4"/>
    <p:sldId id="267" r:id="rId5"/>
    <p:sldId id="270" r:id="rId6"/>
    <p:sldId id="271" r:id="rId7"/>
    <p:sldId id="273" r:id="rId8"/>
    <p:sldId id="272" r:id="rId9"/>
    <p:sldId id="274" r:id="rId10"/>
    <p:sldId id="268" r:id="rId11"/>
    <p:sldId id="269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FFB2"/>
    <a:srgbClr val="00FF00"/>
    <a:srgbClr val="99FFCC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40" d="100"/>
          <a:sy n="140" d="100"/>
        </p:scale>
        <p:origin x="132" y="8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3/29/2026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3/29/2026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3/29/2026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3/29/2026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3/29/2026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3/29/2026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3/29/2026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3/29/2026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3/29/2026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3/29/2026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3/29/2026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3/29/2026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1ACA33-B903-4D50-EC26-538DA17610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40668" y="2017054"/>
            <a:ext cx="7638047" cy="2098226"/>
          </a:xfrm>
        </p:spPr>
        <p:txBody>
          <a:bodyPr/>
          <a:lstStyle/>
          <a:p>
            <a:r>
              <a:rPr lang="ru-RU" sz="4800" dirty="0"/>
              <a:t>Метод разработки алгоритмов. </a:t>
            </a:r>
            <a:br>
              <a:rPr lang="ru-RU" sz="4800" dirty="0"/>
            </a:br>
            <a:r>
              <a:rPr lang="ru-RU" sz="4800" dirty="0"/>
              <a:t>Разделяй и властвуй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D5AEA97-16F0-03CB-5637-EA91CA2BA172}"/>
              </a:ext>
            </a:extLst>
          </p:cNvPr>
          <p:cNvSpPr>
            <a:spLocks noGrp="1"/>
          </p:cNvSpPr>
          <p:nvPr/>
        </p:nvSpPr>
        <p:spPr>
          <a:xfrm>
            <a:off x="237624" y="6088312"/>
            <a:ext cx="3158905" cy="5194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Font typeface="Franklin Gothic Book" panose="020B0503020102020204" pitchFamily="34" charset="0"/>
              <a:buNone/>
              <a:defRPr sz="23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Буров Арсений 211 гр.</a:t>
            </a:r>
          </a:p>
        </p:txBody>
      </p:sp>
    </p:spTree>
    <p:extLst>
      <p:ext uri="{BB962C8B-B14F-4D97-AF65-F5344CB8AC3E}">
        <p14:creationId xmlns:p14="http://schemas.microsoft.com/office/powerpoint/2010/main" val="20354183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FF9A249-8C79-6D9B-3302-D4B7DB6B6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1171" y="399156"/>
            <a:ext cx="9601200" cy="18167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/>
              <a:t>Разделяй и властвуй - это метод разработки алгоритмов, основанный на рекурсивном разбиении сложной задачи на две или более подзадачи того же типа, но меньшего размера, до тех пор, пока они не станут элементарными и решаемыми напрямую.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2020BCDA-DB8F-6244-C289-4919321878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8386966"/>
              </p:ext>
            </p:extLst>
          </p:nvPr>
        </p:nvGraphicFramePr>
        <p:xfrm>
          <a:off x="2892260" y="213667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5558085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069076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86485886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993328729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8724157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00FF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00FF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00FF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00FF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00FF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6967883"/>
                  </a:ext>
                </a:extLst>
              </a:tr>
            </a:tbl>
          </a:graphicData>
        </a:graphic>
      </p:graphicFrame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0CA368BD-8FD4-88E3-37C3-F77AF7155C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0175568"/>
              </p:ext>
            </p:extLst>
          </p:nvPr>
        </p:nvGraphicFramePr>
        <p:xfrm>
          <a:off x="3042656" y="2999651"/>
          <a:ext cx="129473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4731">
                  <a:extLst>
                    <a:ext uri="{9D8B030D-6E8A-4147-A177-3AD203B41FA5}">
                      <a16:colId xmlns:a16="http://schemas.microsoft.com/office/drawing/2014/main" val="3424347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B2FF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3635292"/>
                  </a:ext>
                </a:extLst>
              </a:tr>
            </a:tbl>
          </a:graphicData>
        </a:graphic>
      </p:graphicFrame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B7682D5F-429A-5197-7253-7AFFF647AE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8935577"/>
              </p:ext>
            </p:extLst>
          </p:nvPr>
        </p:nvGraphicFramePr>
        <p:xfrm>
          <a:off x="4705354" y="2999651"/>
          <a:ext cx="129473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4731">
                  <a:extLst>
                    <a:ext uri="{9D8B030D-6E8A-4147-A177-3AD203B41FA5}">
                      <a16:colId xmlns:a16="http://schemas.microsoft.com/office/drawing/2014/main" val="3424347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B2FF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3635292"/>
                  </a:ext>
                </a:extLst>
              </a:tr>
            </a:tbl>
          </a:graphicData>
        </a:graphic>
      </p:graphicFrame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C7FAC17F-F4EF-BDDE-EB5A-4CFD9DF44D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1512008"/>
              </p:ext>
            </p:extLst>
          </p:nvPr>
        </p:nvGraphicFramePr>
        <p:xfrm>
          <a:off x="6308894" y="2999651"/>
          <a:ext cx="129473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4731">
                  <a:extLst>
                    <a:ext uri="{9D8B030D-6E8A-4147-A177-3AD203B41FA5}">
                      <a16:colId xmlns:a16="http://schemas.microsoft.com/office/drawing/2014/main" val="3424347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B2FF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3635292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C410099B-3C74-964A-91CA-45D5671AF6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0973575"/>
              </p:ext>
            </p:extLst>
          </p:nvPr>
        </p:nvGraphicFramePr>
        <p:xfrm>
          <a:off x="7948199" y="2999651"/>
          <a:ext cx="129473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4731">
                  <a:extLst>
                    <a:ext uri="{9D8B030D-6E8A-4147-A177-3AD203B41FA5}">
                      <a16:colId xmlns:a16="http://schemas.microsoft.com/office/drawing/2014/main" val="3424347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B2FF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3635292"/>
                  </a:ext>
                </a:extLst>
              </a:tr>
            </a:tbl>
          </a:graphicData>
        </a:graphic>
      </p:graphicFrame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51733B04-FC74-71AC-159B-29EC3B55EA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337203"/>
              </p:ext>
            </p:extLst>
          </p:nvPr>
        </p:nvGraphicFramePr>
        <p:xfrm>
          <a:off x="9587504" y="2999874"/>
          <a:ext cx="1294731" cy="370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4731">
                  <a:extLst>
                    <a:ext uri="{9D8B030D-6E8A-4147-A177-3AD203B41FA5}">
                      <a16:colId xmlns:a16="http://schemas.microsoft.com/office/drawing/2014/main" val="342434748"/>
                    </a:ext>
                  </a:extLst>
                </a:gridCol>
              </a:tblGrid>
              <a:tr h="37061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B2FF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3635292"/>
                  </a:ext>
                </a:extLst>
              </a:tr>
            </a:tbl>
          </a:graphicData>
        </a:graphic>
      </p:graphicFrame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050A3B27-6B78-1336-3A97-0DBA43A13F07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3690021" y="2507516"/>
            <a:ext cx="0" cy="492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4E705DF0-BE74-56F6-CA9F-1728C158C837}"/>
              </a:ext>
            </a:extLst>
          </p:cNvPr>
          <p:cNvCxnSpPr>
            <a:cxnSpLocks/>
          </p:cNvCxnSpPr>
          <p:nvPr/>
        </p:nvCxnSpPr>
        <p:spPr>
          <a:xfrm>
            <a:off x="5304258" y="2507515"/>
            <a:ext cx="0" cy="492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B17B1065-473E-93CA-5A8E-61B0604423F0}"/>
              </a:ext>
            </a:extLst>
          </p:cNvPr>
          <p:cNvCxnSpPr>
            <a:cxnSpLocks/>
          </p:cNvCxnSpPr>
          <p:nvPr/>
        </p:nvCxnSpPr>
        <p:spPr>
          <a:xfrm>
            <a:off x="6972636" y="2507514"/>
            <a:ext cx="0" cy="492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5B3B55FA-2631-1CA3-A821-06794C491F9A}"/>
              </a:ext>
            </a:extLst>
          </p:cNvPr>
          <p:cNvCxnSpPr>
            <a:cxnSpLocks/>
          </p:cNvCxnSpPr>
          <p:nvPr/>
        </p:nvCxnSpPr>
        <p:spPr>
          <a:xfrm>
            <a:off x="8581862" y="2507513"/>
            <a:ext cx="0" cy="492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Прямая со стрелкой 15">
            <a:extLst>
              <a:ext uri="{FF2B5EF4-FFF2-40B4-BE49-F238E27FC236}">
                <a16:creationId xmlns:a16="http://schemas.microsoft.com/office/drawing/2014/main" id="{D0C69931-E762-98E4-F8DA-FEA2C286B2AE}"/>
              </a:ext>
            </a:extLst>
          </p:cNvPr>
          <p:cNvCxnSpPr>
            <a:cxnSpLocks/>
          </p:cNvCxnSpPr>
          <p:nvPr/>
        </p:nvCxnSpPr>
        <p:spPr>
          <a:xfrm>
            <a:off x="10227183" y="2507512"/>
            <a:ext cx="0" cy="492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aphicFrame>
        <p:nvGraphicFramePr>
          <p:cNvPr id="17" name="Таблица 16">
            <a:extLst>
              <a:ext uri="{FF2B5EF4-FFF2-40B4-BE49-F238E27FC236}">
                <a16:creationId xmlns:a16="http://schemas.microsoft.com/office/drawing/2014/main" id="{03A6CAAA-DA03-616B-F9F3-A019800AEF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2953077"/>
              </p:ext>
            </p:extLst>
          </p:nvPr>
        </p:nvGraphicFramePr>
        <p:xfrm>
          <a:off x="3042656" y="3862626"/>
          <a:ext cx="129473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4731">
                  <a:extLst>
                    <a:ext uri="{9D8B030D-6E8A-4147-A177-3AD203B41FA5}">
                      <a16:colId xmlns:a16="http://schemas.microsoft.com/office/drawing/2014/main" val="3424347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r>
                        <a:rPr lang="en-US" sz="1800" b="1" kern="12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endParaRPr lang="ru-RU" sz="18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B2FF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3635292"/>
                  </a:ext>
                </a:extLst>
              </a:tr>
            </a:tbl>
          </a:graphicData>
        </a:graphic>
      </p:graphicFrame>
      <p:graphicFrame>
        <p:nvGraphicFramePr>
          <p:cNvPr id="18" name="Таблица 17">
            <a:extLst>
              <a:ext uri="{FF2B5EF4-FFF2-40B4-BE49-F238E27FC236}">
                <a16:creationId xmlns:a16="http://schemas.microsoft.com/office/drawing/2014/main" id="{A463D3AC-93A1-B275-4545-34DD8A991C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5148500"/>
              </p:ext>
            </p:extLst>
          </p:nvPr>
        </p:nvGraphicFramePr>
        <p:xfrm>
          <a:off x="4705354" y="3862626"/>
          <a:ext cx="129473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4731">
                  <a:extLst>
                    <a:ext uri="{9D8B030D-6E8A-4147-A177-3AD203B41FA5}">
                      <a16:colId xmlns:a16="http://schemas.microsoft.com/office/drawing/2014/main" val="3424347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r>
                        <a:rPr lang="en-US" sz="1800" b="1" kern="12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  <a:endParaRPr lang="ru-RU" sz="18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B2FF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3635292"/>
                  </a:ext>
                </a:extLst>
              </a:tr>
            </a:tbl>
          </a:graphicData>
        </a:graphic>
      </p:graphicFrame>
      <p:graphicFrame>
        <p:nvGraphicFramePr>
          <p:cNvPr id="19" name="Таблица 18">
            <a:extLst>
              <a:ext uri="{FF2B5EF4-FFF2-40B4-BE49-F238E27FC236}">
                <a16:creationId xmlns:a16="http://schemas.microsoft.com/office/drawing/2014/main" id="{9F5980E7-9B3E-D7CC-10DD-38C4004C3B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8719148"/>
              </p:ext>
            </p:extLst>
          </p:nvPr>
        </p:nvGraphicFramePr>
        <p:xfrm>
          <a:off x="6308894" y="3862626"/>
          <a:ext cx="129473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4731">
                  <a:extLst>
                    <a:ext uri="{9D8B030D-6E8A-4147-A177-3AD203B41FA5}">
                      <a16:colId xmlns:a16="http://schemas.microsoft.com/office/drawing/2014/main" val="3424347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r>
                        <a:rPr lang="en-US" sz="1800" b="1" kern="12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  <a:endParaRPr lang="ru-RU" sz="18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B2FF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3635292"/>
                  </a:ext>
                </a:extLst>
              </a:tr>
            </a:tbl>
          </a:graphicData>
        </a:graphic>
      </p:graphicFrame>
      <p:graphicFrame>
        <p:nvGraphicFramePr>
          <p:cNvPr id="20" name="Таблица 19">
            <a:extLst>
              <a:ext uri="{FF2B5EF4-FFF2-40B4-BE49-F238E27FC236}">
                <a16:creationId xmlns:a16="http://schemas.microsoft.com/office/drawing/2014/main" id="{9F0DDCFF-698C-11CF-E9E4-9350B3C9A2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601962"/>
              </p:ext>
            </p:extLst>
          </p:nvPr>
        </p:nvGraphicFramePr>
        <p:xfrm>
          <a:off x="7948199" y="3862626"/>
          <a:ext cx="129473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4731">
                  <a:extLst>
                    <a:ext uri="{9D8B030D-6E8A-4147-A177-3AD203B41FA5}">
                      <a16:colId xmlns:a16="http://schemas.microsoft.com/office/drawing/2014/main" val="3424347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r>
                        <a:rPr lang="en-US" sz="1800" b="1" kern="12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  <a:endParaRPr lang="ru-RU" sz="18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B2FF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3635292"/>
                  </a:ext>
                </a:extLst>
              </a:tr>
            </a:tbl>
          </a:graphicData>
        </a:graphic>
      </p:graphicFrame>
      <p:graphicFrame>
        <p:nvGraphicFramePr>
          <p:cNvPr id="21" name="Таблица 20">
            <a:extLst>
              <a:ext uri="{FF2B5EF4-FFF2-40B4-BE49-F238E27FC236}">
                <a16:creationId xmlns:a16="http://schemas.microsoft.com/office/drawing/2014/main" id="{C2AF8380-02BE-596C-14D7-B53BF98336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259897"/>
              </p:ext>
            </p:extLst>
          </p:nvPr>
        </p:nvGraphicFramePr>
        <p:xfrm>
          <a:off x="9587504" y="3862849"/>
          <a:ext cx="1294731" cy="370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4731">
                  <a:extLst>
                    <a:ext uri="{9D8B030D-6E8A-4147-A177-3AD203B41FA5}">
                      <a16:colId xmlns:a16="http://schemas.microsoft.com/office/drawing/2014/main" val="342434748"/>
                    </a:ext>
                  </a:extLst>
                </a:gridCol>
              </a:tblGrid>
              <a:tr h="370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r>
                        <a:rPr lang="en-US" sz="1800" b="1" kern="12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</a:t>
                      </a:r>
                      <a:endParaRPr lang="ru-RU" sz="18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B2FF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3635292"/>
                  </a:ext>
                </a:extLst>
              </a:tr>
            </a:tbl>
          </a:graphicData>
        </a:graphic>
      </p:graphicFrame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0BAABCF1-503E-2A10-919B-221C6B894392}"/>
              </a:ext>
            </a:extLst>
          </p:cNvPr>
          <p:cNvCxnSpPr>
            <a:cxnSpLocks/>
            <a:endCxn id="17" idx="0"/>
          </p:cNvCxnSpPr>
          <p:nvPr/>
        </p:nvCxnSpPr>
        <p:spPr>
          <a:xfrm>
            <a:off x="3690021" y="3370491"/>
            <a:ext cx="0" cy="492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3" name="Прямая со стрелкой 22">
            <a:extLst>
              <a:ext uri="{FF2B5EF4-FFF2-40B4-BE49-F238E27FC236}">
                <a16:creationId xmlns:a16="http://schemas.microsoft.com/office/drawing/2014/main" id="{7F993D8B-F31A-6148-15EA-EE6A7219ECBE}"/>
              </a:ext>
            </a:extLst>
          </p:cNvPr>
          <p:cNvCxnSpPr>
            <a:cxnSpLocks/>
          </p:cNvCxnSpPr>
          <p:nvPr/>
        </p:nvCxnSpPr>
        <p:spPr>
          <a:xfrm>
            <a:off x="5304258" y="3370490"/>
            <a:ext cx="0" cy="492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B6AEC9F8-AAE0-5CAA-1B8C-A18BE8FF9975}"/>
              </a:ext>
            </a:extLst>
          </p:cNvPr>
          <p:cNvCxnSpPr>
            <a:cxnSpLocks/>
          </p:cNvCxnSpPr>
          <p:nvPr/>
        </p:nvCxnSpPr>
        <p:spPr>
          <a:xfrm>
            <a:off x="6972636" y="3370489"/>
            <a:ext cx="0" cy="492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9EBF3839-8940-AB21-8C8C-51BA7081EFCF}"/>
              </a:ext>
            </a:extLst>
          </p:cNvPr>
          <p:cNvCxnSpPr>
            <a:cxnSpLocks/>
          </p:cNvCxnSpPr>
          <p:nvPr/>
        </p:nvCxnSpPr>
        <p:spPr>
          <a:xfrm>
            <a:off x="8581862" y="3370488"/>
            <a:ext cx="0" cy="492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6" name="Прямая со стрелкой 25">
            <a:extLst>
              <a:ext uri="{FF2B5EF4-FFF2-40B4-BE49-F238E27FC236}">
                <a16:creationId xmlns:a16="http://schemas.microsoft.com/office/drawing/2014/main" id="{8B92F152-5DDE-BF4D-0474-88C00A94B876}"/>
              </a:ext>
            </a:extLst>
          </p:cNvPr>
          <p:cNvCxnSpPr>
            <a:cxnSpLocks/>
          </p:cNvCxnSpPr>
          <p:nvPr/>
        </p:nvCxnSpPr>
        <p:spPr>
          <a:xfrm>
            <a:off x="10227183" y="3370487"/>
            <a:ext cx="0" cy="492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D0D719C-67A4-1D1B-F0E8-D72FFB72CCD1}"/>
              </a:ext>
            </a:extLst>
          </p:cNvPr>
          <p:cNvSpPr/>
          <p:nvPr/>
        </p:nvSpPr>
        <p:spPr>
          <a:xfrm>
            <a:off x="4137861" y="4773727"/>
            <a:ext cx="5636795" cy="463216"/>
          </a:xfrm>
          <a:prstGeom prst="rect">
            <a:avLst/>
          </a:prstGeom>
          <a:solidFill>
            <a:srgbClr val="B2FF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</a:t>
            </a:r>
            <a:r>
              <a:rPr lang="en-US" sz="1800" b="1" kern="1200" baseline="-250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abcde</a:t>
            </a:r>
            <a:endParaRPr lang="en-US" sz="1800" b="1" kern="1200" baseline="-25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cxnSp>
        <p:nvCxnSpPr>
          <p:cNvPr id="28" name="Прямая со стрелкой 27">
            <a:extLst>
              <a:ext uri="{FF2B5EF4-FFF2-40B4-BE49-F238E27FC236}">
                <a16:creationId xmlns:a16="http://schemas.microsoft.com/office/drawing/2014/main" id="{BD67EA13-0AAB-9872-76E3-0D021573AB9B}"/>
              </a:ext>
            </a:extLst>
          </p:cNvPr>
          <p:cNvCxnSpPr>
            <a:cxnSpLocks/>
          </p:cNvCxnSpPr>
          <p:nvPr/>
        </p:nvCxnSpPr>
        <p:spPr>
          <a:xfrm>
            <a:off x="3713414" y="4266971"/>
            <a:ext cx="424447" cy="43032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0" name="Прямая со стрелкой 29">
            <a:extLst>
              <a:ext uri="{FF2B5EF4-FFF2-40B4-BE49-F238E27FC236}">
                <a16:creationId xmlns:a16="http://schemas.microsoft.com/office/drawing/2014/main" id="{71664907-BCB5-1FDB-B26D-973026F0ADB8}"/>
              </a:ext>
            </a:extLst>
          </p:cNvPr>
          <p:cNvCxnSpPr>
            <a:cxnSpLocks/>
            <a:stCxn id="21" idx="2"/>
          </p:cNvCxnSpPr>
          <p:nvPr/>
        </p:nvCxnSpPr>
        <p:spPr>
          <a:xfrm flipH="1">
            <a:off x="9774656" y="4233466"/>
            <a:ext cx="460213" cy="54026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2" name="Прямая со стрелкой 31">
            <a:extLst>
              <a:ext uri="{FF2B5EF4-FFF2-40B4-BE49-F238E27FC236}">
                <a16:creationId xmlns:a16="http://schemas.microsoft.com/office/drawing/2014/main" id="{19FFC8AC-627A-FD22-9633-52E570BC834D}"/>
              </a:ext>
            </a:extLst>
          </p:cNvPr>
          <p:cNvCxnSpPr>
            <a:cxnSpLocks/>
          </p:cNvCxnSpPr>
          <p:nvPr/>
        </p:nvCxnSpPr>
        <p:spPr>
          <a:xfrm>
            <a:off x="5369096" y="4257528"/>
            <a:ext cx="0" cy="492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3" name="Прямая со стрелкой 32">
            <a:extLst>
              <a:ext uri="{FF2B5EF4-FFF2-40B4-BE49-F238E27FC236}">
                <a16:creationId xmlns:a16="http://schemas.microsoft.com/office/drawing/2014/main" id="{D880CFD9-01D5-AA4A-AFA6-5E0689DDFBE8}"/>
              </a:ext>
            </a:extLst>
          </p:cNvPr>
          <p:cNvCxnSpPr>
            <a:cxnSpLocks/>
          </p:cNvCxnSpPr>
          <p:nvPr/>
        </p:nvCxnSpPr>
        <p:spPr>
          <a:xfrm>
            <a:off x="6989013" y="4281592"/>
            <a:ext cx="0" cy="492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4" name="Прямая со стрелкой 33">
            <a:extLst>
              <a:ext uri="{FF2B5EF4-FFF2-40B4-BE49-F238E27FC236}">
                <a16:creationId xmlns:a16="http://schemas.microsoft.com/office/drawing/2014/main" id="{78DCC158-CC7A-6028-E7DD-8996010510B7}"/>
              </a:ext>
            </a:extLst>
          </p:cNvPr>
          <p:cNvCxnSpPr>
            <a:cxnSpLocks/>
          </p:cNvCxnSpPr>
          <p:nvPr/>
        </p:nvCxnSpPr>
        <p:spPr>
          <a:xfrm>
            <a:off x="8636004" y="4266971"/>
            <a:ext cx="0" cy="492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39698EDA-6D4D-A1E4-A4C8-F63A0395FD36}"/>
              </a:ext>
            </a:extLst>
          </p:cNvPr>
          <p:cNvSpPr/>
          <p:nvPr/>
        </p:nvSpPr>
        <p:spPr>
          <a:xfrm>
            <a:off x="956345" y="2100048"/>
            <a:ext cx="1452476" cy="444096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>
                <a:solidFill>
                  <a:schemeClr val="tx1"/>
                </a:solidFill>
              </a:rPr>
              <a:t>Задача</a:t>
            </a:r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29F92A17-CCEA-0D3F-0899-B5F05DAE8DBC}"/>
              </a:ext>
            </a:extLst>
          </p:cNvPr>
          <p:cNvSpPr/>
          <p:nvPr/>
        </p:nvSpPr>
        <p:spPr>
          <a:xfrm>
            <a:off x="956345" y="2926391"/>
            <a:ext cx="1452478" cy="444096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>
                <a:solidFill>
                  <a:schemeClr val="tx1"/>
                </a:solidFill>
              </a:rPr>
              <a:t>Разделение</a:t>
            </a:r>
          </a:p>
        </p:txBody>
      </p:sp>
      <p:sp>
        <p:nvSpPr>
          <p:cNvPr id="38" name="Прямоугольник: скругленные углы 37">
            <a:extLst>
              <a:ext uri="{FF2B5EF4-FFF2-40B4-BE49-F238E27FC236}">
                <a16:creationId xmlns:a16="http://schemas.microsoft.com/office/drawing/2014/main" id="{7CCA01D3-6682-7695-AD58-965441B0F5A7}"/>
              </a:ext>
            </a:extLst>
          </p:cNvPr>
          <p:cNvSpPr/>
          <p:nvPr/>
        </p:nvSpPr>
        <p:spPr>
          <a:xfrm>
            <a:off x="956343" y="3789370"/>
            <a:ext cx="1452478" cy="444096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>
                <a:solidFill>
                  <a:schemeClr val="tx1"/>
                </a:solidFill>
              </a:rPr>
              <a:t>Решение</a:t>
            </a:r>
          </a:p>
        </p:txBody>
      </p:sp>
      <p:sp>
        <p:nvSpPr>
          <p:cNvPr id="39" name="Прямоугольник: скругленные углы 38">
            <a:extLst>
              <a:ext uri="{FF2B5EF4-FFF2-40B4-BE49-F238E27FC236}">
                <a16:creationId xmlns:a16="http://schemas.microsoft.com/office/drawing/2014/main" id="{41C23A2E-57CB-7A28-7C0B-D03B7BD6C435}"/>
              </a:ext>
            </a:extLst>
          </p:cNvPr>
          <p:cNvSpPr/>
          <p:nvPr/>
        </p:nvSpPr>
        <p:spPr>
          <a:xfrm>
            <a:off x="956343" y="4783287"/>
            <a:ext cx="1452478" cy="444096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b="1" dirty="0">
                <a:solidFill>
                  <a:schemeClr val="tx1"/>
                </a:solidFill>
              </a:rPr>
              <a:t>Объединение</a:t>
            </a:r>
          </a:p>
        </p:txBody>
      </p:sp>
    </p:spTree>
    <p:extLst>
      <p:ext uri="{BB962C8B-B14F-4D97-AF65-F5344CB8AC3E}">
        <p14:creationId xmlns:p14="http://schemas.microsoft.com/office/powerpoint/2010/main" val="4244835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01B27D-C573-5A51-A9A5-A0DDE3C04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42950"/>
          </a:xfrm>
        </p:spPr>
        <p:txBody>
          <a:bodyPr>
            <a:normAutofit/>
          </a:bodyPr>
          <a:lstStyle/>
          <a:p>
            <a:r>
              <a:rPr lang="ru-RU" sz="4000" dirty="0"/>
              <a:t>Этапы работы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DCCB2E-8C08-B61C-8033-64F38BDE52FE}"/>
              </a:ext>
            </a:extLst>
          </p:cNvPr>
          <p:cNvSpPr txBox="1"/>
          <p:nvPr/>
        </p:nvSpPr>
        <p:spPr>
          <a:xfrm>
            <a:off x="1371600" y="1840831"/>
            <a:ext cx="944150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1. Разделение исходной задачи на независимые подзадачи меньшей размерности;</a:t>
            </a:r>
          </a:p>
          <a:p>
            <a:r>
              <a:rPr lang="ru-RU" sz="2400" dirty="0"/>
              <a:t>2. Рекурсивное решение каждой подзадачи; если подзадача достаточно мала, решаем её непосредственно (базовый случай рекурсии);</a:t>
            </a:r>
          </a:p>
          <a:p>
            <a:r>
              <a:rPr lang="ru-RU" sz="2400" dirty="0"/>
              <a:t>3. Объединение решений подзадач в решение исходной задачи.</a:t>
            </a:r>
          </a:p>
        </p:txBody>
      </p:sp>
    </p:spTree>
    <p:extLst>
      <p:ext uri="{BB962C8B-B14F-4D97-AF65-F5344CB8AC3E}">
        <p14:creationId xmlns:p14="http://schemas.microsoft.com/office/powerpoint/2010/main" val="9371304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01B27D-C573-5A51-A9A5-A0DDE3C04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42950"/>
          </a:xfrm>
        </p:spPr>
        <p:txBody>
          <a:bodyPr>
            <a:normAutofit/>
          </a:bodyPr>
          <a:lstStyle/>
          <a:p>
            <a:r>
              <a:rPr lang="ru-RU" sz="4000" dirty="0"/>
              <a:t>Примеры алгоритмов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7DC2BE-85CE-5989-BBD5-9636498B31A9}"/>
              </a:ext>
            </a:extLst>
          </p:cNvPr>
          <p:cNvSpPr txBox="1"/>
          <p:nvPr/>
        </p:nvSpPr>
        <p:spPr>
          <a:xfrm>
            <a:off x="1582615" y="1684574"/>
            <a:ext cx="9500628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i="0" dirty="0">
                <a:effectLst/>
              </a:rPr>
              <a:t>Сортировка слиянием </a:t>
            </a:r>
            <a:r>
              <a:rPr lang="ru-RU" sz="2000" dirty="0"/>
              <a:t>- </a:t>
            </a:r>
            <a:r>
              <a:rPr lang="ru-RU" sz="2000" b="0" i="0" dirty="0">
                <a:effectLst/>
              </a:rPr>
              <a:t>делит массив пополам, рекурсивно сортирует каждую половину и сливает два отсортированных массива в один.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i="0" dirty="0">
                <a:effectLst/>
              </a:rPr>
              <a:t>Быстрая сортировка </a:t>
            </a:r>
            <a:r>
              <a:rPr lang="ru-RU" sz="2000" b="0" i="0" dirty="0">
                <a:effectLst/>
              </a:rPr>
              <a:t>- выбирает опорный элемент, разделяет массив на элементы меньше и больше опорного, затем рекурсивно сортирует части.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i="0" dirty="0">
                <a:solidFill>
                  <a:srgbClr val="181818"/>
                </a:solidFill>
                <a:effectLst/>
              </a:rPr>
              <a:t>Бинарный поиск </a:t>
            </a:r>
            <a:r>
              <a:rPr lang="ru-RU" sz="2000" b="0" i="0" dirty="0">
                <a:solidFill>
                  <a:srgbClr val="181818"/>
                </a:solidFill>
                <a:effectLst/>
              </a:rPr>
              <a:t>- алгоритм, который последовательно делит пополам заранее отсортированный массив данных, чтобы обнаружить нужный элемент.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i="0" dirty="0">
                <a:effectLst/>
              </a:rPr>
              <a:t>Алгоритм </a:t>
            </a:r>
            <a:r>
              <a:rPr lang="ru-RU" sz="2000" b="1" i="0" dirty="0" err="1">
                <a:effectLst/>
              </a:rPr>
              <a:t>Карацубы</a:t>
            </a:r>
            <a:r>
              <a:rPr lang="ru-RU" sz="2000" b="1" i="0" dirty="0">
                <a:effectLst/>
              </a:rPr>
              <a:t> </a:t>
            </a:r>
            <a:r>
              <a:rPr lang="en-US" sz="2000" dirty="0"/>
              <a:t>-</a:t>
            </a:r>
            <a:r>
              <a:rPr lang="ru-RU" sz="2000" b="0" i="0" dirty="0">
                <a:effectLst/>
              </a:rPr>
              <a:t> умножение больших чисел за </a:t>
            </a:r>
            <a:r>
              <a:rPr lang="en-US" sz="2000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O(n </a:t>
            </a:r>
            <a:r>
              <a:rPr lang="ru-RU" sz="2000" kern="100" baseline="30000" dirty="0" err="1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log</a:t>
            </a:r>
            <a:r>
              <a:rPr lang="en-US" sz="2000" kern="100" baseline="300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_</a:t>
            </a:r>
            <a:r>
              <a:rPr lang="ru-RU" sz="2000" kern="100" baseline="300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2</a:t>
            </a:r>
            <a:r>
              <a:rPr lang="en-US" sz="2000" kern="100" baseline="300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(</a:t>
            </a:r>
            <a:r>
              <a:rPr lang="ru-RU" sz="2000" kern="100" baseline="300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3</a:t>
            </a:r>
            <a:r>
              <a:rPr lang="en-US" sz="2000" kern="100" baseline="300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)</a:t>
            </a:r>
            <a:r>
              <a:rPr lang="en-US" sz="2000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)</a:t>
            </a:r>
            <a:r>
              <a:rPr lang="en-US" sz="2000" kern="100" dirty="0"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ru-RU" sz="2000" b="0" i="0" dirty="0">
                <a:effectLst/>
              </a:rPr>
              <a:t>вместо классического </a:t>
            </a:r>
            <a:r>
              <a:rPr lang="ru-RU" sz="20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O(n</a:t>
            </a:r>
            <a:r>
              <a:rPr lang="ru-RU" sz="2000" baseline="300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2</a:t>
            </a:r>
            <a:r>
              <a:rPr lang="ru-RU" sz="20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) </a:t>
            </a:r>
            <a:r>
              <a:rPr lang="ru-RU" sz="2000" b="0" i="0" dirty="0">
                <a:effectLst/>
              </a:rPr>
              <a:t>за счёт разбиения на части и уменьшения количества перемножений.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Алгоритм </a:t>
            </a:r>
            <a:r>
              <a:rPr lang="ru-RU" sz="2000" b="1" dirty="0" err="1"/>
              <a:t>Штрассена</a:t>
            </a:r>
            <a:r>
              <a:rPr lang="ru-RU" sz="2000" b="1" dirty="0"/>
              <a:t> </a:t>
            </a:r>
            <a:r>
              <a:rPr lang="ru-RU" sz="2000" dirty="0"/>
              <a:t>– алгоритм быстрого умножения квадратных матриц, является обобщением метода умножения </a:t>
            </a:r>
            <a:r>
              <a:rPr lang="ru-RU" sz="2000" dirty="0" err="1"/>
              <a:t>Карацубы</a:t>
            </a:r>
            <a:r>
              <a:rPr lang="ru-RU" sz="2000" dirty="0"/>
              <a:t> на матрицы.</a:t>
            </a:r>
            <a:endParaRPr lang="ru-RU" sz="2000" b="0" i="0" dirty="0">
              <a:effectLst/>
            </a:endParaRPr>
          </a:p>
          <a:p>
            <a:pPr marL="342900" indent="-342900">
              <a:buFont typeface="+mj-lt"/>
              <a:buAutoNum type="arabicPeriod"/>
            </a:pPr>
            <a:endParaRPr lang="ru-RU" b="0" i="0" dirty="0">
              <a:effectLst/>
              <a:latin typeface="pplxSerif"/>
            </a:endParaRPr>
          </a:p>
          <a:p>
            <a:pPr marL="342900" indent="-342900">
              <a:buFont typeface="+mj-lt"/>
              <a:buAutoNum type="arabicPeriod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17527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0DC1C07A-80E0-B937-3CDB-E61492C48E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1048" y="445169"/>
            <a:ext cx="9601200" cy="1225369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Математически работа алгоритмов </a:t>
            </a:r>
            <a:r>
              <a:rPr lang="en-US" dirty="0"/>
              <a:t>“</a:t>
            </a:r>
            <a:r>
              <a:rPr lang="ru-RU" dirty="0"/>
              <a:t>разделяй и властвуй</a:t>
            </a:r>
            <a:r>
              <a:rPr lang="en-US" dirty="0"/>
              <a:t>”</a:t>
            </a:r>
            <a:r>
              <a:rPr lang="ru-RU" dirty="0"/>
              <a:t> описывается с помощью рекуррентного соотношения. Чаще всего используется формула, которая легла в основу Основной теоремы о рекуррентных соотношениях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DC24888-6809-B90E-CA48-DFC470AFAEF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87" b="10317"/>
          <a:stretch/>
        </p:blipFill>
        <p:spPr>
          <a:xfrm>
            <a:off x="3238500" y="1781677"/>
            <a:ext cx="6629400" cy="908384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2226066-8C5B-059F-05EE-5EC0BCBB44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0853" y="2915177"/>
            <a:ext cx="6944694" cy="322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1187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179E8B-8D9A-96C8-E246-EA84A3EBC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615462"/>
          </a:xfrm>
        </p:spPr>
        <p:txBody>
          <a:bodyPr>
            <a:normAutofit/>
          </a:bodyPr>
          <a:lstStyle/>
          <a:p>
            <a:r>
              <a:rPr lang="ru-RU" sz="3600" dirty="0"/>
              <a:t>Пример: Алгоритм </a:t>
            </a:r>
            <a:r>
              <a:rPr lang="ru-RU" sz="3600" dirty="0" err="1"/>
              <a:t>Карацубы</a:t>
            </a:r>
            <a:r>
              <a:rPr lang="ru-RU" sz="3600" dirty="0"/>
              <a:t> 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9349F085-7976-997E-1C66-CE88FA21F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6841" y="1394701"/>
            <a:ext cx="8828727" cy="4777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3548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6A75020-5C98-12CA-1BC9-47A097447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92" y="152400"/>
            <a:ext cx="7162616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9761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E0421F-7DD9-2A4E-DF16-E9C2EFCE7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7576" y="255895"/>
            <a:ext cx="3500301" cy="576618"/>
          </a:xfrm>
        </p:spPr>
        <p:txBody>
          <a:bodyPr>
            <a:normAutofit fontScale="90000"/>
          </a:bodyPr>
          <a:lstStyle/>
          <a:p>
            <a:r>
              <a:rPr lang="ru-RU" sz="3600" dirty="0"/>
              <a:t>Оценка сложности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D4BBCCE-DD76-8966-0093-762F6E6C42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385" y="884291"/>
            <a:ext cx="2915057" cy="7430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0DABE47-216C-61B1-E23B-1BC9518952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339" y="1740933"/>
            <a:ext cx="5559552" cy="492363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AD5C7015-A51D-F91F-BCAB-66AF00F5F1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0746" y="2186354"/>
            <a:ext cx="5218833" cy="2343010"/>
          </a:xfrm>
          <a:prstGeom prst="rect">
            <a:avLst/>
          </a:prstGeom>
        </p:spPr>
      </p:pic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7DD7F71-EA4D-8223-77B5-C27EC190AFE6}"/>
              </a:ext>
            </a:extLst>
          </p:cNvPr>
          <p:cNvSpPr/>
          <p:nvPr/>
        </p:nvSpPr>
        <p:spPr>
          <a:xfrm>
            <a:off x="6643937" y="0"/>
            <a:ext cx="88404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89274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9EA524B-29F6-8245-69AA-75526CCAD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263770"/>
            <a:ext cx="9601200" cy="615462"/>
          </a:xfrm>
        </p:spPr>
        <p:txBody>
          <a:bodyPr>
            <a:normAutofit/>
          </a:bodyPr>
          <a:lstStyle/>
          <a:p>
            <a:r>
              <a:rPr lang="ru-RU" sz="3600" dirty="0"/>
              <a:t>Пример: Бинарный поиск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B947CA-9AF1-D15F-CDB8-CC1CF8818550}"/>
              </a:ext>
            </a:extLst>
          </p:cNvPr>
          <p:cNvSpPr txBox="1"/>
          <p:nvPr/>
        </p:nvSpPr>
        <p:spPr>
          <a:xfrm>
            <a:off x="1078523" y="799909"/>
            <a:ext cx="105156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1. Сортируем массив данных.</a:t>
            </a:r>
          </a:p>
          <a:p>
            <a:r>
              <a:rPr lang="ru-RU" dirty="0"/>
              <a:t>2. Делим его пополам и находим середину.</a:t>
            </a:r>
          </a:p>
          <a:p>
            <a:r>
              <a:rPr lang="ru-RU" dirty="0"/>
              <a:t>3. Сравниваем срединный элемент с заданным искомым элементом.</a:t>
            </a:r>
          </a:p>
          <a:p>
            <a:r>
              <a:rPr lang="ru-RU" dirty="0"/>
              <a:t>4. Если искомое число больше среднего - продолжаем поиск в правой части массива (если он отсортирован по возрастанию): делим ее пополам, повторяя пункт 3. Если же заданное число меньше - алгоритм продолжит поиск в левой части массива, снова возвращаясь к пункту 3.</a:t>
            </a:r>
          </a:p>
          <a:p>
            <a:endParaRPr lang="ru-RU" dirty="0"/>
          </a:p>
          <a:p>
            <a:r>
              <a:rPr lang="ru-RU" dirty="0"/>
              <a:t>Рекуррентное соотношение: </a:t>
            </a:r>
            <a:r>
              <a:rPr lang="pt-BR" b="0" i="1" dirty="0">
                <a:solidFill>
                  <a:srgbClr val="0F1115"/>
                </a:solidFill>
                <a:effectLst/>
              </a:rPr>
              <a:t>T(n)=T(</a:t>
            </a:r>
            <a:r>
              <a:rPr lang="en-US" i="1" dirty="0">
                <a:solidFill>
                  <a:srgbClr val="0F1115"/>
                </a:solidFill>
              </a:rPr>
              <a:t>n/2</a:t>
            </a:r>
            <a:r>
              <a:rPr lang="pt-BR" b="0" i="1" dirty="0">
                <a:solidFill>
                  <a:srgbClr val="0F1115"/>
                </a:solidFill>
                <a:effectLst/>
              </a:rPr>
              <a:t>​)+O(1) =&gt; </a:t>
            </a:r>
            <a:r>
              <a:rPr lang="ru-RU" b="0" i="1" dirty="0">
                <a:solidFill>
                  <a:srgbClr val="0F1115"/>
                </a:solidFill>
                <a:effectLst/>
              </a:rPr>
              <a:t>сложность </a:t>
            </a:r>
            <a:r>
              <a:rPr lang="pt-BR" b="0" i="1" dirty="0">
                <a:solidFill>
                  <a:srgbClr val="0F1115"/>
                </a:solidFill>
                <a:effectLst/>
              </a:rPr>
              <a:t>T(n)=O(log n)</a:t>
            </a:r>
            <a:endParaRPr lang="ru-RU" i="1" dirty="0"/>
          </a:p>
        </p:txBody>
      </p:sp>
      <p:pic>
        <p:nvPicPr>
          <p:cNvPr id="2050" name="Picture 2" descr="Image of a graph lightbox">
            <a:extLst>
              <a:ext uri="{FF2B5EF4-FFF2-40B4-BE49-F238E27FC236}">
                <a16:creationId xmlns:a16="http://schemas.microsoft.com/office/drawing/2014/main" id="{ACD54A9F-C69D-8445-968A-7D50BBF2F6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890" b="70018"/>
          <a:stretch/>
        </p:blipFill>
        <p:spPr bwMode="auto">
          <a:xfrm>
            <a:off x="2911109" y="3552092"/>
            <a:ext cx="6675156" cy="729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Image of a graph lightbox">
            <a:extLst>
              <a:ext uri="{FF2B5EF4-FFF2-40B4-BE49-F238E27FC236}">
                <a16:creationId xmlns:a16="http://schemas.microsoft.com/office/drawing/2014/main" id="{9E4986EB-C2A3-23B4-2C67-5F37F77C160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5" t="48232" r="-805" b="36676"/>
          <a:stretch/>
        </p:blipFill>
        <p:spPr bwMode="auto">
          <a:xfrm>
            <a:off x="2934555" y="4308231"/>
            <a:ext cx="6675156" cy="729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Image of a graph lightbox">
            <a:extLst>
              <a:ext uri="{FF2B5EF4-FFF2-40B4-BE49-F238E27FC236}">
                <a16:creationId xmlns:a16="http://schemas.microsoft.com/office/drawing/2014/main" id="{DBECC444-E05F-FBFE-6E9C-9DF4F753AC1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2" t="80901" r="-2092" b="4007"/>
          <a:stretch/>
        </p:blipFill>
        <p:spPr bwMode="auto">
          <a:xfrm>
            <a:off x="3013913" y="5064370"/>
            <a:ext cx="6675156" cy="729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7FA8569-9A21-33D1-90A3-22CBDCA3BBEE}"/>
              </a:ext>
            </a:extLst>
          </p:cNvPr>
          <p:cNvSpPr txBox="1"/>
          <p:nvPr/>
        </p:nvSpPr>
        <p:spPr>
          <a:xfrm>
            <a:off x="4331677" y="5873425"/>
            <a:ext cx="4032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Поиск 67 в отсортированном массиве</a:t>
            </a:r>
          </a:p>
        </p:txBody>
      </p:sp>
    </p:spTree>
    <p:extLst>
      <p:ext uri="{BB962C8B-B14F-4D97-AF65-F5344CB8AC3E}">
        <p14:creationId xmlns:p14="http://schemas.microsoft.com/office/powerpoint/2010/main" val="10348557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79EB046-F122-4400-FBF1-534468400E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316"/>
          <a:stretch/>
        </p:blipFill>
        <p:spPr>
          <a:xfrm>
            <a:off x="1349908" y="952808"/>
            <a:ext cx="10254184" cy="56909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CE1EEF-74D4-FE29-81ED-172CC9724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263770"/>
            <a:ext cx="9601200" cy="615462"/>
          </a:xfrm>
        </p:spPr>
        <p:txBody>
          <a:bodyPr>
            <a:normAutofit/>
          </a:bodyPr>
          <a:lstStyle/>
          <a:p>
            <a:r>
              <a:rPr lang="ru-RU" sz="3600" dirty="0"/>
              <a:t>Пример: Сортировка слиянием</a:t>
            </a:r>
          </a:p>
        </p:txBody>
      </p:sp>
    </p:spTree>
    <p:extLst>
      <p:ext uri="{BB962C8B-B14F-4D97-AF65-F5344CB8AC3E}">
        <p14:creationId xmlns:p14="http://schemas.microsoft.com/office/powerpoint/2010/main" val="5412107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2C0275-5A4C-B45E-B90E-2CE8F1C2F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Преимущества метода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11A959B-CFA8-B8D6-DA84-CE6A632E7C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946031"/>
            <a:ext cx="9601200" cy="3581400"/>
          </a:xfrm>
        </p:spPr>
        <p:txBody>
          <a:bodyPr/>
          <a:lstStyle/>
          <a:p>
            <a:r>
              <a:rPr lang="ru-RU" sz="2800" b="0" i="0" dirty="0">
                <a:effectLst/>
              </a:rPr>
              <a:t>Метод позволяет перейти от неэффективных обычных решений к более быстрым;</a:t>
            </a:r>
          </a:p>
          <a:p>
            <a:r>
              <a:rPr lang="ru-RU" sz="2800" b="0" i="0" dirty="0">
                <a:solidFill>
                  <a:srgbClr val="0F1115"/>
                </a:solidFill>
                <a:effectLst/>
              </a:rPr>
              <a:t>Подзадачи </a:t>
            </a:r>
            <a:r>
              <a:rPr lang="ru-RU" sz="2800" i="0" dirty="0">
                <a:solidFill>
                  <a:srgbClr val="0F1115"/>
                </a:solidFill>
                <a:effectLst/>
              </a:rPr>
              <a:t>независимы</a:t>
            </a:r>
            <a:r>
              <a:rPr lang="ru-RU" sz="2800" b="0" i="0" dirty="0">
                <a:solidFill>
                  <a:srgbClr val="0F1115"/>
                </a:solidFill>
                <a:effectLst/>
              </a:rPr>
              <a:t> друг от друга;</a:t>
            </a:r>
          </a:p>
          <a:p>
            <a:r>
              <a:rPr lang="ru-RU" sz="2800" b="0" i="0" dirty="0">
                <a:solidFill>
                  <a:srgbClr val="0F1115"/>
                </a:solidFill>
                <a:effectLst/>
              </a:rPr>
              <a:t>Сложные задачи, которые трудно решить целиком, становятся управляемыми при разбиении на простые подзадачи.</a:t>
            </a:r>
          </a:p>
          <a:p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940979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9BDCE925-3A0C-60B7-50F3-B0F5D1485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29890" y="2954601"/>
            <a:ext cx="6332220" cy="695379"/>
          </a:xfrm>
        </p:spPr>
        <p:txBody>
          <a:bodyPr/>
          <a:lstStyle/>
          <a:p>
            <a:r>
              <a:rPr lang="ru-RU" dirty="0"/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2429250927"/>
      </p:ext>
    </p:extLst>
  </p:cSld>
  <p:clrMapOvr>
    <a:masterClrMapping/>
  </p:clrMapOvr>
</p:sld>
</file>

<file path=ppt/theme/theme1.xml><?xml version="1.0" encoding="utf-8"?>
<a:theme xmlns:a="http://schemas.openxmlformats.org/drawingml/2006/main" name="Уголки">
  <a:themeElements>
    <a:clrScheme name="Серая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517</TotalTime>
  <Words>417</Words>
  <Application>Microsoft Office PowerPoint</Application>
  <PresentationFormat>Широкоэкранный</PresentationFormat>
  <Paragraphs>50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8" baseType="lpstr">
      <vt:lpstr>Aptos</vt:lpstr>
      <vt:lpstr>Arial</vt:lpstr>
      <vt:lpstr>Franklin Gothic Book</vt:lpstr>
      <vt:lpstr>pplxSerif</vt:lpstr>
      <vt:lpstr>quote-cjk-patch</vt:lpstr>
      <vt:lpstr>Уголки</vt:lpstr>
      <vt:lpstr>Метод разработки алгоритмов.  Разделяй и властвуй</vt:lpstr>
      <vt:lpstr>Презентация PowerPoint</vt:lpstr>
      <vt:lpstr>Этапы работы</vt:lpstr>
      <vt:lpstr>Примеры алгоритмов</vt:lpstr>
      <vt:lpstr>Презентация PowerPoint</vt:lpstr>
      <vt:lpstr>Пример: Алгоритм Карацубы </vt:lpstr>
      <vt:lpstr>Презентация PowerPoint</vt:lpstr>
      <vt:lpstr>Оценка сложности</vt:lpstr>
      <vt:lpstr>Пример: Бинарный поиск</vt:lpstr>
      <vt:lpstr>Пример: Сортировка слиянием</vt:lpstr>
      <vt:lpstr>Преимущества метода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Ars</dc:creator>
  <cp:lastModifiedBy>Ars</cp:lastModifiedBy>
  <cp:revision>6</cp:revision>
  <dcterms:created xsi:type="dcterms:W3CDTF">2026-02-16T14:02:04Z</dcterms:created>
  <dcterms:modified xsi:type="dcterms:W3CDTF">2026-03-29T07:15:45Z</dcterms:modified>
</cp:coreProperties>
</file>